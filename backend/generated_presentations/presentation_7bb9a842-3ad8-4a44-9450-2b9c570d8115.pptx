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این اسلاید توضیح دهید که WT چگونه شکاف بین دقت تخمین عمق و تخیل مدل‌های تولیدی را پر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توضیح دهید که چرا تنسور چندلایه اجازه می‌دهد اشیای پشت سر هم را شناسایی کنیم.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 روی این نکته تاکید کنید که مدل مستقیماً با فضای تصویر کار می‌کند و انعطاف‌پذیری بالایی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معماری WT-DiT قلب تپنده سیستم است که از دانش مدل‌های بینایی ماشین پیش‌آموزش‌دیده استفاده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توضیح دهید که هر نوع توجه چه نقشی در حفظ انسجام هندسی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بخش به جزئیات فنی برای جلوگیری از جابجایی لایه‌ها در مدل نفوذی می‌پردازد.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توضیح دهید که نسخه WT-D چگونه تفاوت‌های زمانی را مدیریت می‌کند تا لرزش در بازسازی رخ ندهد.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تکنیک‌ها باعث می‌شوند مدل در مواجهه با مقیاس‌های مختلف (شیء کوچک در مقابل صحنه بزرگ) خطا نکند.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اشاره کنید که مدل بسته به نوع ورودی (شیء، صحنه یا ویدئو) در سه نسخه ارائه 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نتایج نشان می‌دهد که WT هم در جزئیات مرئی و هم در ساختار کلی برتر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نهایت توضیح دهید که خروجی این مدل چگونه در صنعت گرافیک و ویدئو کاربرد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مروری سریع بر دستاوردهای اصلی مقاله و تأکید بر نوآوری تنسور چندلایه.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8063" y="3310128"/>
            <a:ext cx="3803904" cy="3803904"/>
          </a:xfrm>
          <a:prstGeom prst="ellipse">
            <a:avLst/>
          </a:prstGeom>
          <a:solidFill>
            <a:srgbClr val="CADCF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04527" y="4498848"/>
            <a:ext cx="2377440" cy="237744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" y="-73152"/>
            <a:ext cx="2340864" cy="234086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" y="658368"/>
            <a:ext cx="1463040" cy="1463040"/>
          </a:xfrm>
          <a:prstGeom prst="ellipse">
            <a:avLst/>
          </a:prstGeom>
          <a:solidFill>
            <a:srgbClr val="CADCFC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362895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44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World Tracing (WT)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48495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 rtl="1"/>
            <a:r>
              <a:rPr sz="2000" b="0" i="0">
                <a:solidFill>
                  <a:srgbClr val="CADCFC"/>
                </a:solidFill>
                <a:latin typeface="B Nazanin"/>
                <a:ea typeface="B Nazanin"/>
                <a:cs typeface="B Nazanin"/>
              </a:rPr>
              <a:t>بازسازی سه‌بعدی جامع از تصاویر دوبعدی با رویکرد تنسور چندلایه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0631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57639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مقدمه و هدف پژوهش</a:t>
            </a:r>
          </a:p>
        </p:txBody>
      </p:sp>
      <p:sp>
        <p:nvSpPr>
          <p:cNvPr id="6" name="Oval 5"/>
          <p:cNvSpPr/>
          <p:nvPr/>
        </p:nvSpPr>
        <p:spPr>
          <a:xfrm>
            <a:off x="665957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حل تضاد بین تخمین‌گرهای عمق و مدل‌های تولیدی Image-to-3D</a:t>
            </a:r>
          </a:p>
        </p:txBody>
      </p:sp>
      <p:sp>
        <p:nvSpPr>
          <p:cNvPr id="8" name="Oval 7"/>
          <p:cNvSpPr/>
          <p:nvPr/>
        </p:nvSpPr>
        <p:spPr>
          <a:xfrm>
            <a:off x="665957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ترکیب دقت تراز پیکسلی با توانایی تکمیل هندسه‌ی پنهان</a:t>
            </a:r>
          </a:p>
        </p:txBody>
      </p:sp>
      <p:sp>
        <p:nvSpPr>
          <p:cNvPr id="10" name="Oval 9"/>
          <p:cNvSpPr/>
          <p:nvPr/>
        </p:nvSpPr>
        <p:spPr>
          <a:xfrm>
            <a:off x="665957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بازسازی هم‌زمان سطوح مرئی و سطوح Occluded (پنهان)</a:t>
            </a:r>
          </a:p>
        </p:txBody>
      </p:sp>
      <p:sp>
        <p:nvSpPr>
          <p:cNvPr id="12" name="Oval 11"/>
          <p:cNvSpPr/>
          <p:nvPr/>
        </p:nvSpPr>
        <p:spPr>
          <a:xfrm>
            <a:off x="665957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هدف: دستیابی به هندسه‌ی کامل صحنه از یک تصویر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9384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نوآوری در بازنمایی هندسی</a:t>
            </a:r>
          </a:p>
        </p:txBody>
      </p:sp>
      <p:sp>
        <p:nvSpPr>
          <p:cNvPr id="6" name="Oval 5"/>
          <p:cNvSpPr/>
          <p:nvPr/>
        </p:nvSpPr>
        <p:spPr>
          <a:xfrm>
            <a:off x="1118585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گذار از پیش‌بینی تک‌نقطه به تنسور چندلایه (Multi-layer Tensor)</a:t>
            </a:r>
          </a:p>
        </p:txBody>
      </p:sp>
      <p:sp>
        <p:nvSpPr>
          <p:cNvPr id="8" name="Oval 7"/>
          <p:cNvSpPr/>
          <p:nvPr/>
        </p:nvSpPr>
        <p:spPr>
          <a:xfrm>
            <a:off x="1118585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لایه صفر: نماینده‌ی سطح مرئی و اولین نقطه‌ی برخورد</a:t>
            </a:r>
          </a:p>
        </p:txBody>
      </p:sp>
      <p:sp>
        <p:nvSpPr>
          <p:cNvPr id="10" name="Oval 9"/>
          <p:cNvSpPr/>
          <p:nvPr/>
        </p:nvSpPr>
        <p:spPr>
          <a:xfrm>
            <a:off x="1118585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لایه‌های عمیق‌تر: نمایش نقاط تلاقی با سطوح پنهان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رفع محدودیت «یک نقطه در هر پیکسل» در فضای دوربین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تناظر پیکسلی و استقلال از دوربین</a:t>
            </a:r>
          </a:p>
        </p:txBody>
      </p:sp>
      <p:sp>
        <p:nvSpPr>
          <p:cNvPr id="3" name="Oval 2"/>
          <p:cNvSpPr/>
          <p:nvPr/>
        </p:nvSpPr>
        <p:spPr>
          <a:xfrm>
            <a:off x="9077916" y="220027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6579" y="187452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حفظ تناظر مستقیم بین پیکسل تصویر و فضای سه‌بعدی</a:t>
            </a:r>
          </a:p>
        </p:txBody>
      </p:sp>
      <p:sp>
        <p:nvSpPr>
          <p:cNvPr id="5" name="Oval 4"/>
          <p:cNvSpPr/>
          <p:nvPr/>
        </p:nvSpPr>
        <p:spPr>
          <a:xfrm>
            <a:off x="9077916" y="330898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6579" y="298323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عدم نیاز به ماتریس داخلی دوربین (Intrinsic Matrix) برای شروع</a:t>
            </a:r>
          </a:p>
        </p:txBody>
      </p:sp>
      <p:sp>
        <p:nvSpPr>
          <p:cNvPr id="7" name="Oval 6"/>
          <p:cNvSpPr/>
          <p:nvPr/>
        </p:nvSpPr>
        <p:spPr>
          <a:xfrm>
            <a:off x="9077916" y="441769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6579" y="409194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امکان استخراج پارامترهای دوربین از لایه صفر</a:t>
            </a:r>
          </a:p>
        </p:txBody>
      </p:sp>
      <p:sp>
        <p:nvSpPr>
          <p:cNvPr id="9" name="Oval 8"/>
          <p:cNvSpPr/>
          <p:nvPr/>
        </p:nvSpPr>
        <p:spPr>
          <a:xfrm>
            <a:off x="9077916" y="55264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6579" y="520065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اجتناب از استفاده از قاب‌های استاندارد (Canonical frames) انتزاعی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0631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57639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معماری WT-DiT</a:t>
            </a:r>
          </a:p>
        </p:txBody>
      </p:sp>
      <p:sp>
        <p:nvSpPr>
          <p:cNvPr id="6" name="Oval 5"/>
          <p:cNvSpPr/>
          <p:nvPr/>
        </p:nvSpPr>
        <p:spPr>
          <a:xfrm>
            <a:off x="665957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طراحی بر پایه ترنسفورمر نفوذی (Diffusion Transformer)</a:t>
            </a:r>
          </a:p>
        </p:txBody>
      </p:sp>
      <p:sp>
        <p:nvSpPr>
          <p:cNvPr id="8" name="Oval 7"/>
          <p:cNvSpPr/>
          <p:nvPr/>
        </p:nvSpPr>
        <p:spPr>
          <a:xfrm>
            <a:off x="665957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بهره‌گیری از تکنیک Flow Matching برای پیش‌بینی مختصات</a:t>
            </a:r>
          </a:p>
        </p:txBody>
      </p:sp>
      <p:sp>
        <p:nvSpPr>
          <p:cNvPr id="10" name="Oval 9"/>
          <p:cNvSpPr/>
          <p:nvPr/>
        </p:nvSpPr>
        <p:spPr>
          <a:xfrm>
            <a:off x="665957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استفاده از انکودرهای منجمد DINO و MoGe برای ویژگی‌های بصری</a:t>
            </a:r>
          </a:p>
        </p:txBody>
      </p:sp>
      <p:sp>
        <p:nvSpPr>
          <p:cNvPr id="12" name="Oval 11"/>
          <p:cNvSpPr/>
          <p:nvPr/>
        </p:nvSpPr>
        <p:spPr>
          <a:xfrm>
            <a:off x="665957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به‌کارگیری پیش‌فرض‌های بصری قدرتمند برای درک محتوا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9384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مکانیزم توجه سه-گانه (Three-way Attention)</a:t>
            </a:r>
          </a:p>
        </p:txBody>
      </p:sp>
      <p:sp>
        <p:nvSpPr>
          <p:cNvPr id="6" name="Oval 5"/>
          <p:cNvSpPr/>
          <p:nvPr/>
        </p:nvSpPr>
        <p:spPr>
          <a:xfrm>
            <a:off x="1118585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توجه لایه‌ای: بررسی روابط درون هر لایه به صورت مجزا</a:t>
            </a:r>
          </a:p>
        </p:txBody>
      </p:sp>
      <p:sp>
        <p:nvSpPr>
          <p:cNvPr id="8" name="Oval 7"/>
          <p:cNvSpPr/>
          <p:nvPr/>
        </p:nvSpPr>
        <p:spPr>
          <a:xfrm>
            <a:off x="1118585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توجه پرتویی: تضمین ترتیب صحیح عمق در راستای محور لایه‌ها</a:t>
            </a:r>
          </a:p>
        </p:txBody>
      </p:sp>
      <p:sp>
        <p:nvSpPr>
          <p:cNvPr id="10" name="Oval 9"/>
          <p:cNvSpPr/>
          <p:nvPr/>
        </p:nvSpPr>
        <p:spPr>
          <a:xfrm>
            <a:off x="1118585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توجه جهانی: بازیابی بافت کلی و هماهنگی نقاط فضای سه‌بعدی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بهینه‌سازی هزینه‌های محاسباتی ترنسفورمرها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مدیریت لایه‌ها و نویززدایی</a:t>
            </a:r>
          </a:p>
        </p:txBody>
      </p:sp>
      <p:sp>
        <p:nvSpPr>
          <p:cNvPr id="3" name="Oval 2"/>
          <p:cNvSpPr/>
          <p:nvPr/>
        </p:nvSpPr>
        <p:spPr>
          <a:xfrm>
            <a:off x="9077916" y="220027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6579" y="187452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استفاده از Layer FiLM برای جلوگیری از تقارن جایگشت لایه‌ها</a:t>
            </a:r>
          </a:p>
        </p:txBody>
      </p:sp>
      <p:sp>
        <p:nvSpPr>
          <p:cNvPr id="5" name="Oval 4"/>
          <p:cNvSpPr/>
          <p:nvPr/>
        </p:nvSpPr>
        <p:spPr>
          <a:xfrm>
            <a:off x="9077916" y="330898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6579" y="298323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به‌کارگیری AdaLN برای کنترل زمان (Timestep) در نویززدایی</a:t>
            </a:r>
          </a:p>
        </p:txBody>
      </p:sp>
      <p:sp>
        <p:nvSpPr>
          <p:cNvPr id="7" name="Oval 6"/>
          <p:cNvSpPr/>
          <p:nvPr/>
        </p:nvSpPr>
        <p:spPr>
          <a:xfrm>
            <a:off x="9077916" y="441769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6579" y="409194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مدیریت دقیق فرآیند نفوذ برای رسیدن به مختصات نهایی</a:t>
            </a:r>
          </a:p>
        </p:txBody>
      </p:sp>
      <p:sp>
        <p:nvSpPr>
          <p:cNvPr id="9" name="Oval 8"/>
          <p:cNvSpPr/>
          <p:nvPr/>
        </p:nvSpPr>
        <p:spPr>
          <a:xfrm>
            <a:off x="9077916" y="55264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6579" y="520065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کنترل لایه‌ها برای شناسایی دقیق ترتیب عمق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0631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57639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پیوستگی زمانی در اشیای پویا (WT-D)</a:t>
            </a:r>
          </a:p>
        </p:txBody>
      </p:sp>
      <p:sp>
        <p:nvSpPr>
          <p:cNvPr id="6" name="Oval 5"/>
          <p:cNvSpPr/>
          <p:nvPr/>
        </p:nvSpPr>
        <p:spPr>
          <a:xfrm>
            <a:off x="665957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افزودن بلوک‌های توجه زمانی برای ویدئوها</a:t>
            </a:r>
          </a:p>
        </p:txBody>
      </p:sp>
      <p:sp>
        <p:nvSpPr>
          <p:cNvPr id="8" name="Oval 7"/>
          <p:cNvSpPr/>
          <p:nvPr/>
        </p:nvSpPr>
        <p:spPr>
          <a:xfrm>
            <a:off x="665957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استفاده از RoPE یک‌بعدی برای حفظ انسجام هندسی</a:t>
            </a:r>
          </a:p>
        </p:txBody>
      </p:sp>
      <p:sp>
        <p:nvSpPr>
          <p:cNvPr id="10" name="Oval 9"/>
          <p:cNvSpPr/>
          <p:nvPr/>
        </p:nvSpPr>
        <p:spPr>
          <a:xfrm>
            <a:off x="665957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به‌کارگیری LayerScale برای بازسازی نرم تغییرات مکان</a:t>
            </a:r>
          </a:p>
        </p:txBody>
      </p:sp>
      <p:sp>
        <p:nvSpPr>
          <p:cNvPr id="12" name="Oval 11"/>
          <p:cNvSpPr/>
          <p:nvPr/>
        </p:nvSpPr>
        <p:spPr>
          <a:xfrm>
            <a:off x="665957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تولید مدل‌های سه‌بعدی متحرک با ثبات زمانی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9384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استراتژی‌های آموزش و بهینه‌سازی</a:t>
            </a:r>
          </a:p>
        </p:txBody>
      </p:sp>
      <p:sp>
        <p:nvSpPr>
          <p:cNvPr id="6" name="Oval 5"/>
          <p:cNvSpPr/>
          <p:nvPr/>
        </p:nvSpPr>
        <p:spPr>
          <a:xfrm>
            <a:off x="1118585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پر کردن پیشرو (Forward-filling) برای نظارت بر لایه‌های عمیق</a:t>
            </a:r>
          </a:p>
        </p:txBody>
      </p:sp>
      <p:sp>
        <p:nvSpPr>
          <p:cNvPr id="8" name="Oval 7"/>
          <p:cNvSpPr/>
          <p:nvPr/>
        </p:nvSpPr>
        <p:spPr>
          <a:xfrm>
            <a:off x="1118585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جریمه یکنواختی (Monotonicity Penalty) برای حفظ ترتیب عمق</a:t>
            </a:r>
          </a:p>
        </p:txBody>
      </p:sp>
      <p:sp>
        <p:nvSpPr>
          <p:cNvPr id="10" name="Oval 9"/>
          <p:cNvSpPr/>
          <p:nvPr/>
        </p:nvSpPr>
        <p:spPr>
          <a:xfrm>
            <a:off x="1118585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استفاده از z-score برای نرمال‌سازی ابعاد اشیاء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ترکیب Median Normalization و Signed Log برای صحنه‌های وسیع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پیکربندی‌های مدل WT</a:t>
            </a:r>
          </a:p>
        </p:txBody>
      </p:sp>
      <p:sp>
        <p:nvSpPr>
          <p:cNvPr id="3" name="Oval 2"/>
          <p:cNvSpPr/>
          <p:nvPr/>
        </p:nvSpPr>
        <p:spPr>
          <a:xfrm>
            <a:off x="9077916" y="220027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6579" y="187452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WT-O: بهینه‌شده برای اشیای استاتیک (Static Objects)</a:t>
            </a:r>
          </a:p>
        </p:txBody>
      </p:sp>
      <p:sp>
        <p:nvSpPr>
          <p:cNvPr id="5" name="Oval 4"/>
          <p:cNvSpPr/>
          <p:nvPr/>
        </p:nvSpPr>
        <p:spPr>
          <a:xfrm>
            <a:off x="9077916" y="330898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6579" y="298323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WT-S: بهینه‌شده برای صحنه‌های استاتیک (Static Scenes)</a:t>
            </a:r>
          </a:p>
        </p:txBody>
      </p:sp>
      <p:sp>
        <p:nvSpPr>
          <p:cNvPr id="7" name="Oval 6"/>
          <p:cNvSpPr/>
          <p:nvPr/>
        </p:nvSpPr>
        <p:spPr>
          <a:xfrm>
            <a:off x="9077916" y="441769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6579" y="409194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WT-D: بهینه‌شده برای اشیای پویا (Dynamic Objects)</a:t>
            </a:r>
          </a:p>
        </p:txBody>
      </p:sp>
      <p:sp>
        <p:nvSpPr>
          <p:cNvPr id="9" name="Oval 8"/>
          <p:cNvSpPr/>
          <p:nvPr/>
        </p:nvSpPr>
        <p:spPr>
          <a:xfrm>
            <a:off x="9077916" y="55264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6579" y="520065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ساختار مشترک: تمامی نسخه‌ها دارای ۶ لایه هستند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4297680"/>
            <a:ext cx="2926080" cy="29260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212080"/>
            <a:ext cx="1828800" cy="1828800"/>
          </a:xfrm>
          <a:prstGeom prst="ellipse">
            <a:avLst/>
          </a:prstGeom>
          <a:solidFill>
            <a:srgbClr val="CADCFC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86239" y="-219456"/>
            <a:ext cx="2633472" cy="2633472"/>
          </a:xfrm>
          <a:prstGeom prst="ellipse">
            <a:avLst/>
          </a:prstGeom>
          <a:solidFill>
            <a:srgbClr val="CADCF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73791" y="603504"/>
            <a:ext cx="1645920" cy="164592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40280"/>
            <a:ext cx="9265615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 rtl="1"/>
            <a:r>
              <a:rPr sz="3000" b="0" i="1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دقت در سطوح مرئی: مشابه یا بهتر از تخمین‌گرهای تک‌چشمی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43400"/>
            <a:ext cx="8534095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 rtl="1"/>
            <a:r>
              <a:rPr sz="18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ارزیابی‌ها و نتایج کلیدی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50631" y="1819656"/>
            <a:ext cx="3218688" cy="3218688"/>
          </a:xfrm>
          <a:prstGeom prst="ellipse">
            <a:avLst/>
          </a:prstGeom>
          <a:solidFill>
            <a:srgbClr val="1E2761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57639" y="2825496"/>
            <a:ext cx="2011680" cy="201168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656813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کاربردهای عملی و پایین‌دستی</a:t>
            </a:r>
          </a:p>
        </p:txBody>
      </p:sp>
      <p:sp>
        <p:nvSpPr>
          <p:cNvPr id="6" name="Oval 5"/>
          <p:cNvSpPr/>
          <p:nvPr/>
        </p:nvSpPr>
        <p:spPr>
          <a:xfrm>
            <a:off x="6659575" y="2125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ویرایش سه‌بعدی صحنه‌ها بر اساس دستورات متنی</a:t>
            </a:r>
          </a:p>
        </p:txBody>
      </p:sp>
      <p:sp>
        <p:nvSpPr>
          <p:cNvPr id="8" name="Oval 7"/>
          <p:cNvSpPr/>
          <p:nvPr/>
        </p:nvSpPr>
        <p:spPr>
          <a:xfrm>
            <a:off x="6659575" y="3268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سنتز ویدئوهای نمای جدید (Novel View Synthesis)</a:t>
            </a:r>
          </a:p>
        </p:txBody>
      </p:sp>
      <p:sp>
        <p:nvSpPr>
          <p:cNvPr id="10" name="Oval 9"/>
          <p:cNvSpPr/>
          <p:nvPr/>
        </p:nvSpPr>
        <p:spPr>
          <a:xfrm>
            <a:off x="6659575" y="4411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تولید مش‌های بافت‌دار برای نرم‌افزارهای گرافیکی</a:t>
            </a:r>
          </a:p>
        </p:txBody>
      </p:sp>
      <p:sp>
        <p:nvSpPr>
          <p:cNvPr id="12" name="Oval 11"/>
          <p:cNvSpPr/>
          <p:nvPr/>
        </p:nvSpPr>
        <p:spPr>
          <a:xfrm>
            <a:off x="6659575" y="55549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5946343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6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استفاده به عنوان پیش‌فرض هندسی (Geometry Prior) بدون آموزش مجدد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 rtl="1"/>
            <a:r>
              <a:rPr sz="32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جمع‌بندی و نتیجه‌گیری</a:t>
            </a:r>
          </a:p>
        </p:txBody>
      </p:sp>
      <p:sp>
        <p:nvSpPr>
          <p:cNvPr id="3" name="Oval 2"/>
          <p:cNvSpPr/>
          <p:nvPr/>
        </p:nvSpPr>
        <p:spPr>
          <a:xfrm>
            <a:off x="9077916" y="220027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6579" y="187452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ادغام موفقیت‌آمیز دقت پیکسلی و تکمیل هندسی</a:t>
            </a:r>
          </a:p>
        </p:txBody>
      </p:sp>
      <p:sp>
        <p:nvSpPr>
          <p:cNvPr id="5" name="Oval 4"/>
          <p:cNvSpPr/>
          <p:nvPr/>
        </p:nvSpPr>
        <p:spPr>
          <a:xfrm>
            <a:off x="9077916" y="330898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6579" y="298323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نوآوری در استفاده از تنسور چندلایه در فضای دوربین</a:t>
            </a:r>
          </a:p>
        </p:txBody>
      </p:sp>
      <p:sp>
        <p:nvSpPr>
          <p:cNvPr id="7" name="Oval 6"/>
          <p:cNvSpPr/>
          <p:nvPr/>
        </p:nvSpPr>
        <p:spPr>
          <a:xfrm>
            <a:off x="9077916" y="441769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6579" y="409194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معماری WT-DiT با توجه سه-گانه و Flow Matching</a:t>
            </a:r>
          </a:p>
        </p:txBody>
      </p:sp>
      <p:sp>
        <p:nvSpPr>
          <p:cNvPr id="9" name="Oval 8"/>
          <p:cNvSpPr/>
          <p:nvPr/>
        </p:nvSpPr>
        <p:spPr>
          <a:xfrm>
            <a:off x="9077916" y="5526405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6579" y="5200650"/>
            <a:ext cx="6256745" cy="110871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2B2B2B"/>
                </a:solidFill>
                <a:latin typeface="B Nazanin"/>
                <a:ea typeface="B Nazanin"/>
                <a:cs typeface="B Nazanin"/>
              </a:rPr>
              <a:t>راهکاری مقیاس‌پذیر برای بازسازی سه‌بعدی اشیاء و صحنه‌ها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07247" y="-384048"/>
            <a:ext cx="3511296" cy="3511296"/>
          </a:xfrm>
          <a:prstGeom prst="ellipse">
            <a:avLst/>
          </a:prstGeom>
          <a:solidFill>
            <a:srgbClr val="CADCF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3983" y="713232"/>
            <a:ext cx="2194560" cy="219456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 rtl="1"/>
            <a:r>
              <a:rPr sz="3800" b="1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جمع‌بندی</a:t>
            </a:r>
          </a:p>
        </p:txBody>
      </p:sp>
      <p:sp>
        <p:nvSpPr>
          <p:cNvPr id="5" name="Oval 4"/>
          <p:cNvSpPr/>
          <p:nvPr/>
        </p:nvSpPr>
        <p:spPr>
          <a:xfrm>
            <a:off x="9783805" y="201930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689" y="192024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مقدمه و هدف پژوهش</a:t>
            </a:r>
          </a:p>
        </p:txBody>
      </p:sp>
      <p:sp>
        <p:nvSpPr>
          <p:cNvPr id="7" name="Oval 6"/>
          <p:cNvSpPr/>
          <p:nvPr/>
        </p:nvSpPr>
        <p:spPr>
          <a:xfrm>
            <a:off x="9783805" y="267462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689" y="257556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نوآوری در بازنمایی هندسی</a:t>
            </a:r>
          </a:p>
        </p:txBody>
      </p:sp>
      <p:sp>
        <p:nvSpPr>
          <p:cNvPr id="9" name="Oval 8"/>
          <p:cNvSpPr/>
          <p:nvPr/>
        </p:nvSpPr>
        <p:spPr>
          <a:xfrm>
            <a:off x="9783805" y="3329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0689" y="323088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تناظر پیکسلی و استقلال از دوربین</a:t>
            </a:r>
          </a:p>
        </p:txBody>
      </p:sp>
      <p:sp>
        <p:nvSpPr>
          <p:cNvPr id="11" name="Oval 10"/>
          <p:cNvSpPr/>
          <p:nvPr/>
        </p:nvSpPr>
        <p:spPr>
          <a:xfrm>
            <a:off x="9783805" y="398526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0689" y="388620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معماری WT-DiT</a:t>
            </a:r>
          </a:p>
        </p:txBody>
      </p:sp>
      <p:sp>
        <p:nvSpPr>
          <p:cNvPr id="13" name="Oval 12"/>
          <p:cNvSpPr/>
          <p:nvPr/>
        </p:nvSpPr>
        <p:spPr>
          <a:xfrm>
            <a:off x="9783805" y="464058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0689" y="454152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مکانیزم توجه سه-گانه (Three-way Attention)</a:t>
            </a:r>
          </a:p>
        </p:txBody>
      </p:sp>
      <p:sp>
        <p:nvSpPr>
          <p:cNvPr id="15" name="Oval 14"/>
          <p:cNvSpPr/>
          <p:nvPr/>
        </p:nvSpPr>
        <p:spPr>
          <a:xfrm>
            <a:off x="9783805" y="529590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B Nazanin"/>
                <a:ea typeface="B Nazanin"/>
                <a:cs typeface="B Nazanin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0689" y="5196840"/>
            <a:ext cx="7668524" cy="655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مدیریت لایه‌ها و نویززدایی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35040"/>
            <a:ext cx="94484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 rtl="1"/>
            <a:r>
              <a:rPr sz="1400" b="0" i="1">
                <a:solidFill>
                  <a:srgbClr val="FFFFFF"/>
                </a:solidFill>
                <a:latin typeface="B Nazanin"/>
                <a:ea typeface="B Nazanin"/>
                <a:cs typeface="B Nazanin"/>
              </a:rPr>
              <a:t>پایان ارائه — بر اساس خلاصه‌ی «World Tracing (WT)»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Tracing (WT)</dc:title>
  <dc:subject/>
  <dc:creator>Book Summarizer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